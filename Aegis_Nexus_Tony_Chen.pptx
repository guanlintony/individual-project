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E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4"/>
    <p:restoredTop sz="94610"/>
  </p:normalViewPr>
  <p:slideViewPr>
    <p:cSldViewPr snapToGrid="0" snapToObjects="1">
      <p:cViewPr varScale="1">
        <p:scale>
          <a:sx n="174" d="100"/>
          <a:sy n="174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5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E52"/>
                </a:solidFill>
                <a:latin typeface="Arial"/>
              </a:rPr>
              <a:t>CLV by Segment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CLV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C7-4E6C-951B-B09DC76D7E0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CC7-4E6C-951B-B09DC76D7E0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CC7-4E6C-951B-B09DC76D7E05}"/>
              </c:ext>
            </c:extLst>
          </c:dPt>
          <c:dPt>
            <c:idx val="3"/>
            <c:invertIfNegative val="0"/>
            <c:bubble3D val="0"/>
            <c:spPr>
              <a:solidFill>
                <a:srgbClr val="1A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CC7-4E6C-951B-B09DC76D7E05}"/>
              </c:ext>
            </c:extLst>
          </c:dPt>
          <c:dPt>
            <c:idx val="4"/>
            <c:invertIfNegative val="0"/>
            <c:bubble3D val="0"/>
            <c:spPr>
              <a:solidFill>
                <a:srgbClr val="1A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CC7-4E6C-951B-B09DC76D7E05}"/>
              </c:ext>
            </c:extLst>
          </c:dPt>
          <c:dPt>
            <c:idx val="5"/>
            <c:invertIfNegative val="0"/>
            <c:bubble3D val="0"/>
            <c:spPr>
              <a:solidFill>
                <a:srgbClr val="1A2E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CC7-4E6C-951B-B09DC76D7E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E5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Prem|Heavy</c:v>
                </c:pt>
                <c:pt idx="1">
                  <c:v>Prem|Med</c:v>
                </c:pt>
                <c:pt idx="2">
                  <c:v>Prem|Light</c:v>
                </c:pt>
                <c:pt idx="3">
                  <c:v>Basic|Med</c:v>
                </c:pt>
                <c:pt idx="4">
                  <c:v>Basic|Heavy</c:v>
                </c:pt>
                <c:pt idx="5">
                  <c:v>Basic|Light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110.44</c:v>
                </c:pt>
                <c:pt idx="1">
                  <c:v>96.76</c:v>
                </c:pt>
                <c:pt idx="2">
                  <c:v>80.77</c:v>
                </c:pt>
                <c:pt idx="3">
                  <c:v>44.41</c:v>
                </c:pt>
                <c:pt idx="4">
                  <c:v>44.11</c:v>
                </c:pt>
                <c:pt idx="5">
                  <c:v>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CC7-4E6C-951B-B09DC76D7E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11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41FAE-CDD5-F15D-6629-6A3EBBD6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2B477-9890-C292-E19E-B73E0FE1C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DDFE8-345C-06D5-ACC0-B701799A0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7622C-31A8-99FA-801D-7E945D0E9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4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BAAE-EEDC-0B97-4366-7F5E11A2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7551C-AE83-ABF1-099F-539060A4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ABE99-066A-14AC-852C-9ABF4069E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0BCB4-06B4-123E-AA01-6DF21E458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96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stocktonmattdavies/understanding-cloud-gaming-pros-and-cons-f0c77ff1a743" TargetMode="External"/><Relationship Id="rId3" Type="http://schemas.openxmlformats.org/officeDocument/2006/relationships/hyperlink" Target="https://www.coherentmarketinsights.com/market-insight/cloud-gaming-market-4600" TargetMode="External"/><Relationship Id="rId7" Type="http://schemas.openxmlformats.org/officeDocument/2006/relationships/hyperlink" Target="https://news.samsung.com/au/samsung-levels-up-cloud-gaming-experiences-by-unleashing-gaming-hub-down-und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lpartners.com/articles/consumer/whats-the-problem-with-cloud-gaming/" TargetMode="External"/><Relationship Id="rId5" Type="http://schemas.openxmlformats.org/officeDocument/2006/relationships/hyperlink" Target="https://illumin.usc.edu/cloud-gaming-a-viable-alternative-or-a-cloudy-future/" TargetMode="External"/><Relationship Id="rId4" Type="http://schemas.openxmlformats.org/officeDocument/2006/relationships/hyperlink" Target="https://www.hoyolab.com/article/223763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1117A2-2A2F-0C8D-3C0D-A0F11A900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599" y="901860"/>
            <a:ext cx="570137" cy="6651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 t="9755"/>
          <a:stretch>
            <a:fillRect/>
          </a:stretch>
        </p:blipFill>
        <p:spPr>
          <a:xfrm>
            <a:off x="4077792" y="0"/>
            <a:ext cx="5066208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9994" y="0"/>
            <a:ext cx="5024005" cy="5143500"/>
          </a:xfrm>
          <a:prstGeom prst="rect">
            <a:avLst/>
          </a:prstGeom>
          <a:solidFill>
            <a:srgbClr val="111E38">
              <a:alpha val="55000"/>
            </a:srgbClr>
          </a:solidFill>
          <a:ln w="12700">
            <a:solidFill>
              <a:srgbClr val="111E3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19" y="868680"/>
            <a:ext cx="4813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AEGIS NEXUS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43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Cloud Asset Streaming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2194560"/>
            <a:ext cx="3803472" cy="54864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Anytime. Skip the Loading.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RSM 8542 Analytics for Marketing Strategy  ·  Spring 2026  ·  Tony Chen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645" y="1802760"/>
            <a:ext cx="3322001" cy="205647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b="2300"/>
          <a:stretch>
            <a:fillRect/>
          </a:stretch>
        </p:blipFill>
        <p:spPr>
          <a:xfrm>
            <a:off x="3336565" y="1078154"/>
            <a:ext cx="2116248" cy="36439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41264" y="868680"/>
            <a:ext cx="332841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486400" y="878762"/>
            <a:ext cx="54864" cy="118872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646" y="878176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75142" y="9421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Crisis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641144" y="1344168"/>
            <a:ext cx="2999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mobile games: 24–72 GB. Mid-range phones: 64–128 GB total.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541264" y="2240280"/>
            <a:ext cx="3328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5486400" y="2231136"/>
            <a:ext cx="54864" cy="118872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913" y="2342681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75142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Hurt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641145" y="2715768"/>
            <a:ext cx="299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smartphone users — the largest &amp; fastest-growing mobile gamer segment.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541264" y="3624798"/>
            <a:ext cx="33284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495896" y="3619148"/>
            <a:ext cx="54864" cy="118872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61914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41144" y="3696063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Pain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641144" y="4087368"/>
            <a:ext cx="2999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file sizes = abandoned installs, lower retention, lost revenue.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Sources: Gravizon / Coherent Market Insights / HoYoLAB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E38"/>
          </a:solidFill>
          <a:ln w="12700">
            <a:solidFill>
              <a:srgbClr val="11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111E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111E38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14181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only assets (textures, audio, geometry) — NOT full video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logic runs locally → minimal latency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play: about 50 MB client shell vs. 20–72 GB full install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mid-range smartphones and PC without hardware upgrades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0" y="868680"/>
            <a:ext cx="4251960" cy="1371600"/>
          </a:xfrm>
          <a:prstGeom prst="rect">
            <a:avLst/>
          </a:prstGeom>
          <a:solidFill>
            <a:srgbClr val="111E38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full-game cloud streaming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135331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GeForce NOW or Xbox Cloud Gaming — no server-side rendering, no video stream. Latency is near-zero because compute stays local.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423160"/>
            <a:ext cx="4251960" cy="2423160"/>
          </a:xfrm>
          <a:prstGeom prst="rect">
            <a:avLst/>
          </a:prstGeom>
          <a:solidFill>
            <a:srgbClr val="111E38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14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09160" y="3017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 gamers with limited storage who refuse to compromise on game quality, Aegis Nexus is the only asset-streaming platform that delivers instant, full-fidelity gameplay — WITHOUT THE DOWNLOAD.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9160" y="4114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Full-game cloud: lower latency  ·  vs. Local install: zero storage burden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STL Partners cloud gaming value chain</a:t>
            </a:r>
            <a:endParaRPr lang="en-US" sz="800" dirty="0"/>
          </a:p>
        </p:txBody>
      </p:sp>
      <p:sp>
        <p:nvSpPr>
          <p:cNvPr id="17" name="AutoShape 2" descr=", AI generated">
            <a:extLst>
              <a:ext uri="{FF2B5EF4-FFF2-40B4-BE49-F238E27FC236}">
                <a16:creationId xmlns:a16="http://schemas.microsoft.com/office/drawing/2014/main" id="{BCC8FC30-F99F-1334-ADAB-8DB4DC703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C00DDB-20CF-CF14-6CBC-14DDA4B85B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43"/>
          <a:stretch>
            <a:fillRect/>
          </a:stretch>
        </p:blipFill>
        <p:spPr>
          <a:xfrm>
            <a:off x="974192" y="929123"/>
            <a:ext cx="2530646" cy="1453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&amp; CHANNEL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94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1945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$11.99/mo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streaming quality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cloud priority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$43 · CAC $27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868680"/>
            <a:ext cx="21945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868680"/>
            <a:ext cx="2194560" cy="50292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868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$18.99/mo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88920" y="1993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fidelity + priority access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3225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with GeForce 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$94 · CAC $35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868680"/>
            <a:ext cx="3886200" cy="1188720"/>
          </a:xfrm>
          <a:prstGeom prst="rect">
            <a:avLst/>
          </a:prstGeom>
          <a:solidFill>
            <a:srgbClr val="1A2E52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9601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577840" y="960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74920" y="13258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+ publisher revenue share from participating titles. Platform captures margin after cloud infra costs.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4320" y="3840480"/>
            <a:ext cx="1508760" cy="105156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4320" y="4251960"/>
            <a:ext cx="1508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ads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TikTok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783080" y="43662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2011680" y="3840480"/>
            <a:ext cx="150876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01168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011680" y="4251960"/>
            <a:ext cx="1508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demo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in-ad experience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20440" y="43662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749040" y="3840480"/>
            <a:ext cx="1508760" cy="105156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74904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749040" y="4251960"/>
            <a:ext cx="1508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MB client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257800" y="43662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486400" y="3840480"/>
            <a:ext cx="1508760" cy="105156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8640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Subscribe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486400" y="4251960"/>
            <a:ext cx="1508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upgrade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at D3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995160" y="436626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223760" y="3840480"/>
            <a:ext cx="150876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22376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Retain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23760" y="4251960"/>
            <a:ext cx="15087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offers</a:t>
            </a:r>
            <a:endParaRPr lang="en-US" sz="10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37760" y="2176272"/>
            <a:ext cx="3886200" cy="11430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4937760" y="2176272"/>
            <a:ext cx="3886200" cy="1143000"/>
          </a:xfrm>
          <a:prstGeom prst="rect">
            <a:avLst/>
          </a:prstGeom>
          <a:solidFill>
            <a:srgbClr val="111E38">
              <a:alpha val="60000"/>
            </a:srgbClr>
          </a:solidFill>
          <a:ln w="12700">
            <a:solidFill>
              <a:srgbClr val="111E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074920" y="2487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Channel: Samsung Gaming Hub (Xbox, GeForce NOW precedent)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7765-E634-C94C-2978-B96BF4D6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5F23EB-28AA-64AE-C411-8DBF48ED24E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27695A-F8FB-8F6C-05CC-315F86C34226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CLV and CAC</a:t>
            </a:r>
            <a:endParaRPr lang="en-US" sz="2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748AB9-0065-2436-B4E9-C56724F0C557}"/>
              </a:ext>
            </a:extLst>
          </p:cNvPr>
          <p:cNvSpPr txBox="1"/>
          <p:nvPr/>
        </p:nvSpPr>
        <p:spPr>
          <a:xfrm>
            <a:off x="209227" y="914400"/>
            <a:ext cx="85690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CA" altLang="zh-CN" dirty="0"/>
              <a:t>CLV -  </a:t>
            </a:r>
            <a:r>
              <a:rPr lang="en-US" altLang="zh-CN" dirty="0"/>
              <a:t>The total revenue or margin a business can expect from a single customer account throughout their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CAC - </a:t>
            </a:r>
            <a:r>
              <a:rPr lang="en-US" altLang="zh-CN" dirty="0"/>
              <a:t>The total marketing and sales expenses required to acquire one new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CA" altLang="zh-CN" dirty="0"/>
              <a:t>CLV: CAC - r</a:t>
            </a:r>
            <a:r>
              <a:rPr lang="en-US" altLang="zh-CN" dirty="0" err="1"/>
              <a:t>elationship</a:t>
            </a:r>
            <a:r>
              <a:rPr lang="en-US" altLang="zh-CN" dirty="0"/>
              <a:t> between the CLV and the CAC, determining business profitability</a:t>
            </a:r>
            <a:endParaRPr kumimoji="1" lang="en-US" altLang="zh-CN" dirty="0"/>
          </a:p>
          <a:p>
            <a:pPr marL="742950" lvl="1" indent="-285750">
              <a:buFont typeface="Wingdings" pitchFamily="2" charset="2"/>
              <a:buChar char="Ø"/>
            </a:pPr>
            <a:r>
              <a:rPr kumimoji="1" lang="en-US" altLang="zh-CN" dirty="0"/>
              <a:t>1:1 – Breakeven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kumimoji="1" lang="en-US" altLang="zh-CN" dirty="0"/>
              <a:t>3:1 – Balanced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kumimoji="1" lang="en-US" altLang="zh-CN" dirty="0"/>
              <a:t>&gt;= 5:1 – Spending too little and miss opportunities to reach new customers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69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E38"/>
          </a:solidFill>
          <a:ln w="12700">
            <a:solidFill>
              <a:srgbClr val="11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COMMUNICATIONS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Theme:  "Your Game, Your Device — No Storage, No Compromise"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2880360"/>
          </a:xfrm>
          <a:prstGeom prst="rect">
            <a:avLst/>
          </a:prstGeom>
          <a:solidFill>
            <a:srgbClr val="111E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Ad (Primary)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402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streamed demo inside Meta/TikTok ad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plays before install — self-selects high-intent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CTA: 'Start Playing Now — 50 MB Install'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691640"/>
            <a:ext cx="2743200" cy="2880360"/>
          </a:xfrm>
          <a:prstGeom prst="rect">
            <a:avLst/>
          </a:prstGeom>
          <a:solidFill>
            <a:srgbClr val="111E38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Seeding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402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micro-influencers (100K–1M followers)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'I freed up 70 GB on my phone' narrative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TikTok + YouTube Shorts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1691640"/>
            <a:ext cx="2743200" cy="2880360"/>
          </a:xfrm>
          <a:prstGeom prst="rect">
            <a:avLst/>
          </a:prstGeom>
          <a:solidFill>
            <a:srgbClr val="111E38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solidFill>
            <a:srgbClr val="C8DCF5"/>
          </a:solidFill>
          <a:ln w="12700">
            <a:solidFill>
              <a:srgbClr val="C8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Search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24028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ASO: keywords 'play without downloading'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6364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UAC targeting heavy-gaming genres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26364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lapsed mobile gamers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11E38"/>
          </a:solidFill>
          <a:ln w="12700">
            <a:solidFill>
              <a:srgbClr val="11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316523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hierarchy: Storage freedom (rational) → Instant play (emotional) → Publisher breadth (social proof)</a:t>
            </a:r>
            <a:endParaRPr lang="en-US" sz="1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ANALYTICS: CLV-DRIVEN TARGETING DECISION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123444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$57.52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179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contribution-margin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19659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8595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2.02×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23160" y="15179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average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1965960" cy="123444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8595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5179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12 months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822960"/>
            <a:ext cx="19659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8595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3.32×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20840" y="15179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Premium|Heavy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810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(priority)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483664578"/>
              </p:ext>
            </p:extLst>
          </p:nvPr>
        </p:nvGraphicFramePr>
        <p:xfrm>
          <a:off x="274320" y="2212848"/>
          <a:ext cx="4716134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441109"/>
              </p:ext>
            </p:extLst>
          </p:nvPr>
        </p:nvGraphicFramePr>
        <p:xfrm>
          <a:off x="4990455" y="2212848"/>
          <a:ext cx="3879226" cy="2708364"/>
        </p:xfrm>
        <a:graphic>
          <a:graphicData uri="http://schemas.openxmlformats.org/drawingml/2006/table">
            <a:tbl>
              <a:tblPr/>
              <a:tblGrid>
                <a:gridCol w="1859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(ad activity strength)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CLV:CAC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CAC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 | 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 |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 | 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| 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| 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| 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decision: All Premium segments → Priority playable-ad campaigns.  Basic segments → lower-cost social retargeting only.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E38"/>
          </a:solidFill>
          <a:ln w="12700">
            <a:solidFill>
              <a:srgbClr val="11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MARKETING  ·  MEASUREMENT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073" y="822960"/>
            <a:ext cx="2697480" cy="2560320"/>
          </a:xfrm>
          <a:prstGeom prst="rect">
            <a:avLst/>
          </a:prstGeom>
          <a:solidFill>
            <a:srgbClr val="111E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Optimisation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911096"/>
            <a:ext cx="71323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9019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11480" y="21579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CPI bids within CAC ceiling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3274" y="2660904"/>
            <a:ext cx="713232" cy="2286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267438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1480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CLV:CAC floor (2.0× Priority, 1.5× Secondary)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82112" y="822960"/>
            <a:ext cx="2697480" cy="2560320"/>
          </a:xfrm>
          <a:prstGeom prst="rect">
            <a:avLst/>
          </a:prstGeom>
          <a:solidFill>
            <a:srgbClr val="111E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9144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82112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Generation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19272" y="1901952"/>
            <a:ext cx="71323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19272" y="19019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19272" y="21579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ad variants; auto-rejects low-CTR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319272" y="2684233"/>
            <a:ext cx="720266" cy="2286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315755" y="269062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19272" y="3017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all new concepts &amp; final variant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089904" y="822960"/>
            <a:ext cx="2697480" cy="2560320"/>
          </a:xfrm>
          <a:prstGeom prst="rect">
            <a:avLst/>
          </a:prstGeom>
          <a:solidFill>
            <a:srgbClr val="111E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91440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89904" y="14813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27064" y="1901952"/>
            <a:ext cx="713232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227064" y="190195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6227064" y="215798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scoring; auto win-back if </a:t>
            </a:r>
            <a:r>
              <a:rPr lang="en-US" sz="1200" dirty="0" err="1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(churn) &gt; threshold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237263" y="2672803"/>
            <a:ext cx="713232" cy="228600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227064" y="268317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227064" y="301752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threshold; Premium|Heavy at-risk → manual review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274320" y="3520440"/>
            <a:ext cx="8595360" cy="1417320"/>
          </a:xfrm>
          <a:prstGeom prst="rect">
            <a:avLst/>
          </a:prstGeom>
          <a:solidFill>
            <a:srgbClr val="111E38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39312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60120" y="35661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 Playable Ads vs. Standard Video  ·  Segment: Premium | Heavy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11480" y="4005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1,059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41148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per arm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2560320" y="4005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 pp D30 retention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56032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709160" y="4005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$53.50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470916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uplift / user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858000" y="4005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$113,303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685800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cohort uplift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ROLLOUT  ·  WHY 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0896" y="743520"/>
            <a:ext cx="2697480" cy="227662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10896" y="743520"/>
            <a:ext cx="2697480" cy="43048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" y="743520"/>
            <a:ext cx="2697480" cy="43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 ·  Month 1–3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292160"/>
            <a:ext cx="2423160" cy="57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| Heavy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(mobile-first)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" y="2005392"/>
            <a:ext cx="594360" cy="198687"/>
          </a:xfrm>
          <a:prstGeom prst="rect">
            <a:avLst/>
          </a:prstGeom>
          <a:solidFill>
            <a:srgbClr val="C8DCF5"/>
          </a:solidFill>
          <a:ln w="12700">
            <a:solidFill>
              <a:srgbClr val="C8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2005392"/>
            <a:ext cx="594360" cy="19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056" y="2261424"/>
            <a:ext cx="2423160" cy="455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≥ 2.0×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500 users</a:t>
            </a:r>
            <a:endParaRPr lang="en-US" sz="1000" b="1" dirty="0"/>
          </a:p>
        </p:txBody>
      </p:sp>
      <p:sp>
        <p:nvSpPr>
          <p:cNvPr id="11" name="Shape 9"/>
          <p:cNvSpPr/>
          <p:nvPr/>
        </p:nvSpPr>
        <p:spPr>
          <a:xfrm>
            <a:off x="448056" y="2668609"/>
            <a:ext cx="2423160" cy="289752"/>
          </a:xfrm>
          <a:prstGeom prst="rect">
            <a:avLst/>
          </a:prstGeom>
          <a:solidFill>
            <a:srgbClr val="D4860B">
              <a:alpha val="80000"/>
            </a:srgbClr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99500"/>
            <a:ext cx="2423160" cy="289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runs here → results ready for Phase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743520"/>
            <a:ext cx="2697480" cy="2276622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743520"/>
            <a:ext cx="2697480" cy="430489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743520"/>
            <a:ext cx="2697480" cy="43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 ·  Month 4–9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292160"/>
            <a:ext cx="2423160" cy="57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Prem|Med + Basic|Heavy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beta launch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55848" y="2005392"/>
            <a:ext cx="594360" cy="198687"/>
          </a:xfrm>
          <a:prstGeom prst="rect">
            <a:avLst/>
          </a:prstGeom>
          <a:solidFill>
            <a:srgbClr val="C8DCF5"/>
          </a:solidFill>
          <a:ln w="12700">
            <a:solidFill>
              <a:srgbClr val="C8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55848" y="2005392"/>
            <a:ext cx="594360" cy="19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5848" y="2261424"/>
            <a:ext cx="2423160" cy="455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≥ 1.5×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segments</a:t>
            </a:r>
            <a:endParaRPr lang="en-US" sz="1000" b="1" dirty="0"/>
          </a:p>
        </p:txBody>
      </p:sp>
      <p:sp>
        <p:nvSpPr>
          <p:cNvPr id="20" name="Shape 18"/>
          <p:cNvSpPr/>
          <p:nvPr/>
        </p:nvSpPr>
        <p:spPr>
          <a:xfrm>
            <a:off x="6126480" y="743520"/>
            <a:ext cx="2697480" cy="2276622"/>
          </a:xfrm>
          <a:prstGeom prst="rect">
            <a:avLst/>
          </a:prstGeom>
          <a:solidFill>
            <a:srgbClr val="FFFFFF"/>
          </a:solidFill>
          <a:ln w="12700">
            <a:solidFill>
              <a:srgbClr val="D486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743520"/>
            <a:ext cx="2697480" cy="430489"/>
          </a:xfrm>
          <a:prstGeom prst="rect">
            <a:avLst/>
          </a:prstGeom>
          <a:solidFill>
            <a:srgbClr val="D4860B"/>
          </a:solidFill>
          <a:ln w="12700">
            <a:solidFill>
              <a:srgbClr val="D48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743520"/>
            <a:ext cx="2697480" cy="430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 ·  Month 10+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292160"/>
            <a:ext cx="2423160" cy="57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expansion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005392"/>
            <a:ext cx="594360" cy="198687"/>
          </a:xfrm>
          <a:prstGeom prst="rect">
            <a:avLst/>
          </a:prstGeom>
          <a:solidFill>
            <a:srgbClr val="C8DCF5"/>
          </a:solidFill>
          <a:ln w="12700">
            <a:solidFill>
              <a:srgbClr val="C8D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2005392"/>
            <a:ext cx="594360" cy="198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63640" y="2261424"/>
            <a:ext cx="2423160" cy="455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1.5×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90-day cohort</a:t>
            </a:r>
            <a:endParaRPr lang="en-US" sz="1000" b="1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896" y="3153870"/>
            <a:ext cx="4819253" cy="18072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5294142" y="3315052"/>
            <a:ext cx="3529818" cy="1600200"/>
          </a:xfrm>
          <a:prstGeom prst="rect">
            <a:avLst/>
          </a:prstGeom>
          <a:solidFill>
            <a:srgbClr val="1A2E52"/>
          </a:solidFill>
          <a:ln w="12700">
            <a:solidFill>
              <a:srgbClr val="C8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00932" y="342876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73858" y="3642168"/>
            <a:ext cx="3380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 Bn cloud gaming market in 2026 to $241 Bn by 2033 (50% CAGR)</a:t>
            </a:r>
            <a:endParaRPr lang="en-US" sz="10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rollout reduces latency risk for asset streaming</a:t>
            </a:r>
            <a:endParaRPr lang="en-US" sz="1000" b="1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= 38.7% of cloud gaming device share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Sources: Coherent Market Insights 2026  ·  Simulation: n = 100,000 users, seed = 42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F532-629F-3B0E-1129-B565BE5B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3CDB62-F222-C20F-1FB0-C81DE598475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2"/>
          </a:solidFill>
          <a:ln w="12700">
            <a:solidFill>
              <a:srgbClr val="1A2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AB6946-E85A-3C14-E94F-D1240EF029E5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597BD56-55CA-C06A-875E-497458F64C8B}"/>
              </a:ext>
            </a:extLst>
          </p:cNvPr>
          <p:cNvSpPr txBox="1"/>
          <p:nvPr/>
        </p:nvSpPr>
        <p:spPr>
          <a:xfrm>
            <a:off x="196053" y="751667"/>
            <a:ext cx="8569013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zh-CN" sz="1300" dirty="0"/>
          </a:p>
          <a:p>
            <a:r>
              <a:rPr kumimoji="1" lang="en-US" altLang="zh-CN" sz="1300" dirty="0"/>
              <a:t>Coherent Market Insights. (2026, March 16). Cloud gaming market analysis &amp; forecast: 2026–2033 (Report No. CMI4600). </a:t>
            </a:r>
            <a:r>
              <a:rPr kumimoji="1" lang="en-US" altLang="zh-CN" sz="1300" dirty="0">
                <a:hlinkClick r:id="rId3"/>
              </a:rPr>
              <a:t>https://www.coherentmarketinsights.com/market-insight/cloud-gaming-market-4600</a:t>
            </a:r>
            <a:endParaRPr kumimoji="1" lang="en-US" altLang="zh-CN" sz="1300" dirty="0"/>
          </a:p>
          <a:p>
            <a:endParaRPr kumimoji="1" lang="en-US" altLang="zh-CN" sz="1300" dirty="0"/>
          </a:p>
          <a:p>
            <a:r>
              <a:rPr kumimoji="1" lang="en-US" altLang="zh-CN" sz="1300" dirty="0" err="1"/>
              <a:t>Gravizon</a:t>
            </a:r>
            <a:r>
              <a:rPr kumimoji="1" lang="en-US" altLang="zh-CN" sz="1300" dirty="0"/>
              <a:t>. (n.d.). Mobile game storage size comparison [Video]. YouTube. https://</a:t>
            </a:r>
            <a:r>
              <a:rPr kumimoji="1" lang="en-US" altLang="zh-CN" sz="1300" dirty="0" err="1"/>
              <a:t>www.youtube.com</a:t>
            </a:r>
            <a:r>
              <a:rPr kumimoji="1" lang="en-US" altLang="zh-CN" sz="1300" dirty="0"/>
              <a:t>/</a:t>
            </a:r>
          </a:p>
          <a:p>
            <a:r>
              <a:rPr kumimoji="1" lang="en-US" altLang="zh-CN" sz="1300" dirty="0" err="1"/>
              <a:t>HoYoLAB</a:t>
            </a:r>
            <a:r>
              <a:rPr kumimoji="1" lang="en-US" altLang="zh-CN" sz="1300" dirty="0"/>
              <a:t>. (2023). iPhone storage: Genshin Impact and </a:t>
            </a:r>
            <a:r>
              <a:rPr kumimoji="1" lang="en-US" altLang="zh-CN" sz="1300" dirty="0" err="1"/>
              <a:t>HoYoverse</a:t>
            </a:r>
            <a:r>
              <a:rPr kumimoji="1" lang="en-US" altLang="zh-CN" sz="1300" dirty="0"/>
              <a:t> games [User screenshot]. </a:t>
            </a:r>
            <a:r>
              <a:rPr kumimoji="1" lang="en-US" altLang="zh-CN" sz="1300" dirty="0" err="1"/>
              <a:t>HoYoLAB</a:t>
            </a:r>
            <a:r>
              <a:rPr kumimoji="1" lang="en-US" altLang="zh-CN" sz="1300" dirty="0"/>
              <a:t> Community. </a:t>
            </a:r>
            <a:r>
              <a:rPr kumimoji="1" lang="en-US" altLang="zh-CN" sz="1300" dirty="0">
                <a:hlinkClick r:id="rId4"/>
              </a:rPr>
              <a:t>https://www.hoyolab.com/article/22376334</a:t>
            </a:r>
            <a:endParaRPr kumimoji="1" lang="en-US" altLang="zh-CN" sz="1300" dirty="0"/>
          </a:p>
          <a:p>
            <a:endParaRPr kumimoji="1" lang="en-US" altLang="zh-CN" sz="1300" dirty="0"/>
          </a:p>
          <a:p>
            <a:r>
              <a:rPr kumimoji="1" lang="en-US" altLang="zh-CN" sz="1300" dirty="0"/>
              <a:t>Kim, R. (2026, February 25). Cloud gaming: A viable alternative, or a cloudy future? USC Viterbi </a:t>
            </a:r>
            <a:r>
              <a:rPr kumimoji="1" lang="en-US" altLang="zh-CN" sz="1300" dirty="0" err="1"/>
              <a:t>Illumin</a:t>
            </a:r>
            <a:r>
              <a:rPr kumimoji="1" lang="en-US" altLang="zh-CN" sz="1300" dirty="0"/>
              <a:t>. </a:t>
            </a:r>
            <a:r>
              <a:rPr kumimoji="1" lang="en-US" altLang="zh-CN" sz="1300" dirty="0">
                <a:hlinkClick r:id="rId5"/>
              </a:rPr>
              <a:t>https://illumin.usc.edu/cloud-gaming-a-viable-alternative-or-a-cloudy-future/</a:t>
            </a:r>
            <a:endParaRPr kumimoji="1" lang="en-US" altLang="zh-CN" sz="1300" dirty="0"/>
          </a:p>
          <a:p>
            <a:endParaRPr kumimoji="1" lang="en-US" altLang="zh-CN" sz="1300" dirty="0"/>
          </a:p>
          <a:p>
            <a:r>
              <a:rPr kumimoji="1" lang="en-US" altLang="zh-CN" sz="1300" dirty="0"/>
              <a:t>Osborne, H. (2023, April). What's the problem with cloud gaming? STL Partners. </a:t>
            </a:r>
            <a:r>
              <a:rPr kumimoji="1" lang="en-US" altLang="zh-CN" sz="1300" dirty="0">
                <a:hlinkClick r:id="rId6"/>
              </a:rPr>
              <a:t>https://stlpartners.com/articles/consumer/whats-the-problem-with-cloud-gaming/</a:t>
            </a:r>
            <a:endParaRPr kumimoji="1" lang="en-US" altLang="zh-CN" sz="1300" dirty="0"/>
          </a:p>
          <a:p>
            <a:endParaRPr kumimoji="1" lang="en-US" altLang="zh-CN" sz="1300" dirty="0"/>
          </a:p>
          <a:p>
            <a:r>
              <a:rPr kumimoji="1" lang="en-US" altLang="zh-CN" sz="1300" dirty="0"/>
              <a:t>Samsung Newsroom Australia. (n.d.). Samsung levels up cloud gaming experiences by unleashing Gaming Hub down under [Photograph]. Samsung. </a:t>
            </a:r>
            <a:r>
              <a:rPr kumimoji="1" lang="en-US" altLang="zh-CN" sz="1300" dirty="0">
                <a:hlinkClick r:id="rId7"/>
              </a:rPr>
              <a:t>https://news.samsung.com/au/samsung-levels-up-cloud-gaming-experiences-by-unleashing-gaming-hub-down-under</a:t>
            </a:r>
            <a:endParaRPr kumimoji="1" lang="en-US" altLang="zh-CN" sz="1300" dirty="0"/>
          </a:p>
          <a:p>
            <a:endParaRPr kumimoji="1" lang="en-US" altLang="zh-CN" sz="1300" dirty="0"/>
          </a:p>
          <a:p>
            <a:r>
              <a:rPr kumimoji="1" lang="en-US" altLang="zh-CN" sz="1300" dirty="0"/>
              <a:t>Stockton, M. D. (2023, December 4). Understanding cloud gaming: Pros and cons. Medium. </a:t>
            </a:r>
            <a:r>
              <a:rPr kumimoji="1" lang="en-US" altLang="zh-CN" sz="1300" dirty="0">
                <a:hlinkClick r:id="rId8"/>
              </a:rPr>
              <a:t>https://medium.com/@stocktonmattdavies/understanding-cloud-gaming-pros-and-cons-f0c77ff1a743</a:t>
            </a:r>
            <a:endParaRPr kumimoji="1" lang="en-US" altLang="zh-CN" sz="1300" dirty="0"/>
          </a:p>
          <a:p>
            <a:endParaRPr kumimoji="1" lang="en-US" altLang="zh-CN" sz="1300" dirty="0"/>
          </a:p>
        </p:txBody>
      </p:sp>
    </p:spTree>
    <p:extLst>
      <p:ext uri="{BB962C8B-B14F-4D97-AF65-F5344CB8AC3E}">
        <p14:creationId xmlns:p14="http://schemas.microsoft.com/office/powerpoint/2010/main" val="138979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1117</Words>
  <Application>Microsoft Macintosh PowerPoint</Application>
  <PresentationFormat>全屏显示(16:9)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Nexus — Launch Pitch</dc:title>
  <dc:subject>PptxGenJS Presentation</dc:subject>
  <dc:creator>Tony Chen</dc:creator>
  <cp:lastModifiedBy>Tony Chen</cp:lastModifiedBy>
  <cp:revision>14</cp:revision>
  <dcterms:created xsi:type="dcterms:W3CDTF">2026-04-07T22:18:59Z</dcterms:created>
  <dcterms:modified xsi:type="dcterms:W3CDTF">2026-04-13T14:56:10Z</dcterms:modified>
</cp:coreProperties>
</file>